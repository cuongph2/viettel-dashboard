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731520"/>
            <a:ext cx="10728655" cy="539496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188720" y="1188720"/>
            <a:ext cx="2011680" cy="548640"/>
          </a:xfrm>
          <a:prstGeom prst="roundRect">
            <a:avLst/>
          </a:prstGeom>
          <a:solidFill>
            <a:srgbClr val="EE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400" b="1">
                <a:solidFill>
                  <a:srgbClr val="FFFFFF"/>
                </a:solidFill>
              </a:defRPr>
            </a:pPr>
            <a:r>
              <a:t>viettel</a:t>
            </a:r>
          </a:p>
        </p:txBody>
      </p:sp>
      <p:sp>
        <p:nvSpPr>
          <p:cNvPr id="5" name="TextBox 4"/>
          <p:cNvSpPr txBox="1"/>
          <p:nvPr/>
        </p:nvSpPr>
        <p:spPr>
          <a:xfrm>
            <a:off x="1188720" y="2011680"/>
            <a:ext cx="9784080" cy="3474720"/>
          </a:xfrm>
          <a:prstGeom prst="rect">
            <a:avLst/>
          </a:prstGeom>
          <a:noFill/>
        </p:spPr>
        <p:txBody>
          <a:bodyPr wrap="square">
            <a:spAutoFit/>
          </a:bodyPr>
          <a:lstStyle/>
          <a:p>
            <a:pPr>
              <a:defRPr sz="2600" b="1">
                <a:solidFill>
                  <a:srgbClr val="1E293B"/>
                </a:solidFill>
              </a:defRPr>
            </a:pPr>
            <a:r>
              <a:t>BÁO CÁO QUẢN TRỊ &amp; ĐÁNH GIÁ TRỌNG TÂM</a:t>
            </a:r>
          </a:p>
          <a:p>
            <a:pPr>
              <a:spcBef>
                <a:spcPts val="800"/>
              </a:spcBef>
              <a:defRPr sz="2200" b="1">
                <a:solidFill>
                  <a:srgbClr val="EE0033"/>
                </a:solidFill>
              </a:defRPr>
            </a:pPr>
            <a:r>
              <a:t>CÔNG NỢ VẬT TƯ A &amp; HỢP ĐỒNG CHI PHÍ THEO NHÀ THẦU ĐỐI TÁC</a:t>
            </a:r>
          </a:p>
          <a:p>
            <a:pPr>
              <a:spcBef>
                <a:spcPts val="2000"/>
              </a:spcBef>
              <a:defRPr sz="1400">
                <a:solidFill>
                  <a:srgbClr val="64748B"/>
                </a:solidFill>
              </a:defRPr>
            </a:pPr>
            <a:r>
              <a:t>• Phân tích rủi ro tập trung công nợ VTA nguồn Đầu tư (548.3 Tỷ VNĐ)</a:t>
            </a:r>
            <a:br/>
            <a:r>
              <a:t>• Đánh giá trọng tâm các nhà thầu lớn nhất (VCC, ACT) &amp; HĐ Chi phí phát sinh trước 2025</a:t>
            </a:r>
            <a:br/>
            <a:r>
              <a:t>• Kiểm soát chỉ tiêu KPI hoàn ứng / nghiệm thu theo chuẩn Cột Q = 'KHÔNG'</a:t>
            </a:r>
          </a:p>
          <a:p>
            <a:pPr>
              <a:spcBef>
                <a:spcPts val="3000"/>
              </a:spcBef>
              <a:defRPr sz="1100" i="1">
                <a:solidFill>
                  <a:srgbClr val="64748B"/>
                </a:solidFill>
              </a:defRPr>
            </a:pPr>
            <a:r>
              <a:t>Tập đoàn Công nghiệp - Viễn thông Quân đội (Viettel) | Dữ liệu cập nhật tháng 09/2026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822960"/>
          </a:xfrm>
          <a:prstGeom prst="rect">
            <a:avLst/>
          </a:prstGeom>
          <a:noFill/>
        </p:spPr>
        <p:txBody>
          <a:bodyPr wrap="square" lIns="0" tIns="0" rIns="0" bIns="0">
            <a:spAutoFit/>
          </a:bodyPr>
          <a:lstStyle/>
          <a:p>
            <a:pPr>
              <a:defRPr sz="1000" b="1">
                <a:solidFill>
                  <a:srgbClr val="EE0033"/>
                </a:solidFill>
              </a:defRPr>
            </a:pPr>
            <a:r>
              <a:t>BÁO CÁO TỔNG HỢP</a:t>
            </a:r>
          </a:p>
          <a:p>
            <a:pPr>
              <a:defRPr sz="2000" b="1">
                <a:solidFill>
                  <a:srgbClr val="1E293B"/>
                </a:solidFill>
              </a:defRPr>
            </a:pPr>
            <a:r>
              <a:t>TỔNG QUAN BỨC TRANH QUẢN LÝ HỢP ĐỒNG &amp; CÔNG TRÌNH</a:t>
            </a:r>
          </a:p>
        </p:txBody>
      </p:sp>
      <p:sp>
        <p:nvSpPr>
          <p:cNvPr id="3" name="Rectangle 2"/>
          <p:cNvSpPr/>
          <p:nvPr/>
        </p:nvSpPr>
        <p:spPr>
          <a:xfrm>
            <a:off x="548640" y="1234440"/>
            <a:ext cx="11094415" cy="36576"/>
          </a:xfrm>
          <a:prstGeom prst="rect">
            <a:avLst/>
          </a:prstGeom>
          <a:solidFill>
            <a:srgbClr val="EE0033"/>
          </a:solidFill>
          <a:ln>
            <a:solidFill>
              <a:srgbClr val="EE00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463040"/>
            <a:ext cx="2651760" cy="1645920"/>
          </a:xfrm>
          <a:prstGeom prst="round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bIns="137160"/>
          <a:lstStyle/>
          <a:p>
            <a:pPr algn="ctr">
              <a:defRPr sz="1000" b="1">
                <a:solidFill>
                  <a:srgbClr val="64748B"/>
                </a:solidFill>
              </a:defRPr>
            </a:pPr>
            <a:r>
              <a:t>TỔNG QUY MÔ HỢP ĐỒNG</a:t>
            </a:r>
          </a:p>
          <a:p>
            <a:pPr>
              <a:spcBef>
                <a:spcPts val="400"/>
              </a:spcBef>
              <a:defRPr sz="2400" b="1">
                <a:solidFill>
                  <a:srgbClr val="1E293B"/>
                </a:solidFill>
              </a:defRPr>
            </a:pPr>
            <a:r>
              <a:t>649 HĐ</a:t>
            </a:r>
          </a:p>
          <a:p>
            <a:pPr>
              <a:spcBef>
                <a:spcPts val="400"/>
              </a:spcBef>
              <a:defRPr sz="1100" b="1">
                <a:solidFill>
                  <a:srgbClr val="1E293B"/>
                </a:solidFill>
              </a:defRPr>
            </a:pPr>
            <a:r>
              <a:t>12,834 Công Trình</a:t>
            </a:r>
          </a:p>
        </p:txBody>
      </p:sp>
      <p:sp>
        <p:nvSpPr>
          <p:cNvPr id="5" name="Rounded Rectangle 4"/>
          <p:cNvSpPr/>
          <p:nvPr/>
        </p:nvSpPr>
        <p:spPr>
          <a:xfrm>
            <a:off x="3383280" y="1463040"/>
            <a:ext cx="2651760" cy="1645920"/>
          </a:xfrm>
          <a:prstGeom prst="roundRect">
            <a:avLst/>
          </a:prstGeom>
          <a:solidFill>
            <a:srgbClr val="FEF2F2"/>
          </a:solidFill>
          <a:ln>
            <a:solidFill>
              <a:srgbClr val="EE0033"/>
            </a:solid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bIns="137160"/>
          <a:lstStyle/>
          <a:p>
            <a:pPr algn="ctr">
              <a:defRPr sz="1000" b="1">
                <a:solidFill>
                  <a:srgbClr val="64748B"/>
                </a:solidFill>
              </a:defRPr>
            </a:pPr>
            <a:r>
              <a:t>TỒN CÔNG NỢ VTA ĐẦU TƯ</a:t>
            </a:r>
          </a:p>
          <a:p>
            <a:pPr>
              <a:spcBef>
                <a:spcPts val="400"/>
              </a:spcBef>
              <a:defRPr sz="2400" b="1">
                <a:solidFill>
                  <a:srgbClr val="EE0033"/>
                </a:solidFill>
              </a:defRPr>
            </a:pPr>
            <a:r>
              <a:t>548.32 Tỷ</a:t>
            </a:r>
          </a:p>
          <a:p>
            <a:pPr>
              <a:spcBef>
                <a:spcPts val="400"/>
              </a:spcBef>
              <a:defRPr sz="1100" b="1">
                <a:solidFill>
                  <a:srgbClr val="1E293B"/>
                </a:solidFill>
              </a:defRPr>
            </a:pPr>
            <a:r>
              <a:t>150 HĐ Nguồn Đầu Tư</a:t>
            </a:r>
          </a:p>
        </p:txBody>
      </p:sp>
      <p:sp>
        <p:nvSpPr>
          <p:cNvPr id="6" name="Rounded Rectangle 5"/>
          <p:cNvSpPr/>
          <p:nvPr/>
        </p:nvSpPr>
        <p:spPr>
          <a:xfrm>
            <a:off x="6217920" y="1463040"/>
            <a:ext cx="2651760" cy="164592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bIns="137160"/>
          <a:lstStyle/>
          <a:p>
            <a:pPr algn="ctr">
              <a:defRPr sz="1000" b="1">
                <a:solidFill>
                  <a:srgbClr val="64748B"/>
                </a:solidFill>
              </a:defRPr>
            </a:pPr>
            <a:r>
              <a:t>TỔNG NGUỒN CHI PHÍ</a:t>
            </a:r>
          </a:p>
          <a:p>
            <a:pPr>
              <a:spcBef>
                <a:spcPts val="400"/>
              </a:spcBef>
              <a:defRPr sz="2400" b="1">
                <a:solidFill>
                  <a:srgbClr val="D97706"/>
                </a:solidFill>
              </a:defRPr>
            </a:pPr>
            <a:r>
              <a:t>64.73 Tỷ</a:t>
            </a:r>
          </a:p>
          <a:p>
            <a:pPr>
              <a:spcBef>
                <a:spcPts val="400"/>
              </a:spcBef>
              <a:defRPr sz="1100" b="1">
                <a:solidFill>
                  <a:srgbClr val="1E293B"/>
                </a:solidFill>
              </a:defRPr>
            </a:pPr>
            <a:r>
              <a:t>499 HĐ Nguồn Chi Phí</a:t>
            </a:r>
          </a:p>
        </p:txBody>
      </p:sp>
      <p:sp>
        <p:nvSpPr>
          <p:cNvPr id="7" name="Rounded Rectangle 6"/>
          <p:cNvSpPr/>
          <p:nvPr/>
        </p:nvSpPr>
        <p:spPr>
          <a:xfrm>
            <a:off x="9052560" y="1463040"/>
            <a:ext cx="2651760" cy="1645920"/>
          </a:xfrm>
          <a:prstGeom prst="roundRect">
            <a:avLst/>
          </a:prstGeom>
          <a:solidFill>
            <a:srgbClr val="FEF2F2"/>
          </a:solidFill>
          <a:ln>
            <a:solidFill>
              <a:srgbClr val="EE0033"/>
            </a:solid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bIns="137160"/>
          <a:lstStyle/>
          <a:p>
            <a:pPr algn="ctr">
              <a:defRPr sz="1000" b="1">
                <a:solidFill>
                  <a:srgbClr val="64748B"/>
                </a:solidFill>
              </a:defRPr>
            </a:pPr>
            <a:r>
              <a:t>🔥 CẢNH BÁO HĐ &lt; 2025</a:t>
            </a:r>
          </a:p>
          <a:p>
            <a:pPr>
              <a:spcBef>
                <a:spcPts val="400"/>
              </a:spcBef>
              <a:defRPr sz="2400" b="1">
                <a:solidFill>
                  <a:srgbClr val="EE0033"/>
                </a:solidFill>
              </a:defRPr>
            </a:pPr>
            <a:r>
              <a:t>78 HĐ</a:t>
            </a:r>
          </a:p>
          <a:p>
            <a:pPr>
              <a:spcBef>
                <a:spcPts val="400"/>
              </a:spcBef>
              <a:defRPr sz="1100" b="1">
                <a:solidFill>
                  <a:srgbClr val="1E293B"/>
                </a:solidFill>
              </a:defRPr>
            </a:pPr>
            <a:r>
              <a:t>14.78 Tỷ (Chi phí tồn cũ)</a:t>
            </a:r>
          </a:p>
        </p:txBody>
      </p:sp>
      <p:sp>
        <p:nvSpPr>
          <p:cNvPr id="8" name="Rectangle 7"/>
          <p:cNvSpPr/>
          <p:nvPr/>
        </p:nvSpPr>
        <p:spPr>
          <a:xfrm>
            <a:off x="548640" y="3291840"/>
            <a:ext cx="11094415" cy="301752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tIns="228600" rIns="228600" bIns="228600"/>
          <a:lstStyle/>
          <a:p>
            <a:pPr algn="ctr">
              <a:defRPr sz="1400" b="1">
                <a:solidFill>
                  <a:srgbClr val="EE0033"/>
                </a:solidFill>
              </a:defRPr>
            </a:pPr>
            <a:r>
              <a:t>NHỮNG ĐIỂM NỔI CỘM CẦN ĐÁNH TRỌNG TÂM QUẢN TRỊ:</a:t>
            </a:r>
          </a:p>
          <a:p>
            <a:pPr>
              <a:spcBef>
                <a:spcPts val="800"/>
              </a:spcBef>
            </a:pPr>
            <a:r>
              <a:rPr b="1" sz="1200">
                <a:solidFill>
                  <a:srgbClr val="1E293B"/>
                </a:solidFill>
              </a:rPr>
              <a:t>1. Tập trung nguồn lực công nợ VTA Nguồn Đầu Tư: </a:t>
            </a:r>
            <a:r>
              <a:rPr sz="1200">
                <a:solidFill>
                  <a:srgbClr val="64748B"/>
                </a:solidFill>
              </a:rPr>
              <a:t>Tổng tồn công nợ VTA Nguồn Đầu tư lên tới 548.32 Tỷ VNĐ (150 HĐ, 9,916 CT). Công nợ này quy mô cực kỳ lớn và tập trung chủ yếu vào 2 đối tác chính.</a:t>
            </a:r>
          </a:p>
          <a:p>
            <a:pPr>
              <a:spcBef>
                <a:spcPts val="800"/>
              </a:spcBef>
            </a:pPr>
            <a:r>
              <a:rPr b="1" sz="1200">
                <a:solidFill>
                  <a:srgbClr val="1E293B"/>
                </a:solidFill>
              </a:rPr>
              <a:t>2. Mức độ tập trung công nợ áp đảo tại TOP 2 Nhà Thầu: </a:t>
            </a:r>
            <a:r>
              <a:rPr sz="1200">
                <a:solidFill>
                  <a:srgbClr val="64748B"/>
                </a:solidFill>
              </a:rPr>
              <a:t>TCT CP Công trình Viettel (234 Tỷ) và Công ty CP Viễn thông ACT (169.4 Tỷ) chiếm tới 74.1% tổng công nợ VTA toàn bộ Nguồn Đầu tư của tập đoàn.</a:t>
            </a:r>
          </a:p>
          <a:p>
            <a:pPr>
              <a:spcBef>
                <a:spcPts val="800"/>
              </a:spcBef>
            </a:pPr>
            <a:r>
              <a:rPr b="1" sz="1200">
                <a:solidFill>
                  <a:srgbClr val="1E293B"/>
                </a:solidFill>
              </a:rPr>
              <a:t>3. Rủi ro tồn đọng Hợp đồng Chi phí cũ phát sinh từ trước năm 2025 (&lt; 2025): </a:t>
            </a:r>
            <a:r>
              <a:rPr sz="1200">
                <a:solidFill>
                  <a:srgbClr val="64748B"/>
                </a:solidFill>
              </a:rPr>
              <a:t>Hiện còn tồn 78 Hợp đồng nguồn Chi phí ký trước 2025 (tương ứng 582 công trình, 14.78 Tỷ VNĐ). Các HĐ này đọng nhiều năm chưa hoàn thành quyết toán/thu hồi.</a:t>
            </a:r>
          </a:p>
          <a:p>
            <a:pPr>
              <a:spcBef>
                <a:spcPts val="800"/>
              </a:spcBef>
            </a:pPr>
            <a:r>
              <a:rPr b="1" sz="1200">
                <a:solidFill>
                  <a:srgbClr val="1E293B"/>
                </a:solidFill>
              </a:rPr>
              <a:t>4. Siết chặt kỷ luật KPI theo quy định Cột Q = 'KHÔNG': </a:t>
            </a:r>
            <a:r>
              <a:rPr sz="1200">
                <a:solidFill>
                  <a:srgbClr val="64748B"/>
                </a:solidFill>
              </a:rPr>
              <a:t>Hệ thống kiểm soát 6 chỉ tiêu KPI (KH VTT, NT/BGTS BQLDA, SAP, VHKT). Bất kỳ công trình nào còn tồn Vật tư A (Cột Q = CÓ) sẽ lập tức bị tính VƯỚNG KPI.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822960"/>
          </a:xfrm>
          <a:prstGeom prst="rect">
            <a:avLst/>
          </a:prstGeom>
          <a:noFill/>
        </p:spPr>
        <p:txBody>
          <a:bodyPr wrap="square" lIns="0" tIns="0" rIns="0" bIns="0">
            <a:spAutoFit/>
          </a:bodyPr>
          <a:lstStyle/>
          <a:p>
            <a:pPr>
              <a:defRPr sz="1000" b="1">
                <a:solidFill>
                  <a:srgbClr val="EE0033"/>
                </a:solidFill>
              </a:defRPr>
            </a:pPr>
            <a:r>
              <a:t>NGUỒN ĐẦU TƯ (548.3 TỶ VNĐ)</a:t>
            </a:r>
          </a:p>
          <a:p>
            <a:pPr>
              <a:defRPr sz="2000" b="1">
                <a:solidFill>
                  <a:srgbClr val="1E293B"/>
                </a:solidFill>
              </a:defRPr>
            </a:pPr>
            <a:r>
              <a:t>TRỌNG TÂM 1: PHÂN TÍCH TỶ TRỌNG CÔNG NỢ VẬT TƯ A THEO NHÀ THẦU LỚN NHẤT</a:t>
            </a:r>
          </a:p>
        </p:txBody>
      </p:sp>
      <p:sp>
        <p:nvSpPr>
          <p:cNvPr id="3" name="Rectangle 2"/>
          <p:cNvSpPr/>
          <p:nvPr/>
        </p:nvSpPr>
        <p:spPr>
          <a:xfrm>
            <a:off x="548640" y="1234440"/>
            <a:ext cx="11094415" cy="36576"/>
          </a:xfrm>
          <a:prstGeom prst="rect">
            <a:avLst/>
          </a:prstGeom>
          <a:solidFill>
            <a:srgbClr val="EE0033"/>
          </a:solidFill>
          <a:ln>
            <a:solidFill>
              <a:srgbClr val="EE00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463040"/>
          <a:ext cx="6858000" cy="4754880"/>
        </p:xfrm>
        <a:graphic>
          <a:graphicData uri="http://schemas.openxmlformats.org/drawingml/2006/table">
            <a:tbl>
              <a:tblPr firstRow="1" bandRow="1">
                <a:tableStyleId>{5C22544A-7EE6-4342-B048-85BDC9FD1C3A}</a:tableStyleId>
              </a:tblPr>
              <a:tblGrid>
                <a:gridCol w="2926080"/>
                <a:gridCol w="1280160"/>
                <a:gridCol w="1097280"/>
                <a:gridCol w="1554480"/>
              </a:tblGrid>
              <a:tr h="792480">
                <a:tc>
                  <a:txBody>
                    <a:bodyPr/>
                    <a:lstStyle/>
                    <a:p>
                      <a:pPr algn="l">
                        <a:defRPr b="1" sz="1100">
                          <a:solidFill>
                            <a:srgbClr val="FFFFFF"/>
                          </a:solidFill>
                        </a:defRPr>
                      </a:pPr>
                      <a:r>
                        <a:t>Nhà Thầu / Đối Tác</a:t>
                      </a:r>
                    </a:p>
                  </a:txBody>
                  <a:tcPr>
                    <a:solidFill>
                      <a:srgbClr val="1E293B"/>
                    </a:solidFill>
                  </a:tcPr>
                </a:tc>
                <a:tc>
                  <a:txBody>
                    <a:bodyPr/>
                    <a:lstStyle/>
                    <a:p>
                      <a:pPr algn="ctr">
                        <a:defRPr b="1" sz="1100">
                          <a:solidFill>
                            <a:srgbClr val="FFFFFF"/>
                          </a:solidFill>
                        </a:defRPr>
                      </a:pPr>
                      <a:r>
                        <a:t>Công Nợ VTA</a:t>
                      </a:r>
                    </a:p>
                  </a:txBody>
                  <a:tcPr>
                    <a:solidFill>
                      <a:srgbClr val="1E293B"/>
                    </a:solidFill>
                  </a:tcPr>
                </a:tc>
                <a:tc>
                  <a:txBody>
                    <a:bodyPr/>
                    <a:lstStyle/>
                    <a:p>
                      <a:pPr algn="ctr">
                        <a:defRPr b="1" sz="1100">
                          <a:solidFill>
                            <a:srgbClr val="FFFFFF"/>
                          </a:solidFill>
                        </a:defRPr>
                      </a:pPr>
                      <a:r>
                        <a:t>Tỷ Trọng %</a:t>
                      </a:r>
                    </a:p>
                  </a:txBody>
                  <a:tcPr>
                    <a:solidFill>
                      <a:srgbClr val="1E293B"/>
                    </a:solidFill>
                  </a:tcPr>
                </a:tc>
                <a:tc>
                  <a:txBody>
                    <a:bodyPr/>
                    <a:lstStyle/>
                    <a:p>
                      <a:pPr algn="ctr">
                        <a:defRPr b="1" sz="1100">
                          <a:solidFill>
                            <a:srgbClr val="FFFFFF"/>
                          </a:solidFill>
                        </a:defRPr>
                      </a:pPr>
                      <a:r>
                        <a:t>Đánh Giá</a:t>
                      </a:r>
                    </a:p>
                  </a:txBody>
                  <a:tcPr>
                    <a:solidFill>
                      <a:srgbClr val="1E293B"/>
                    </a:solidFill>
                  </a:tcPr>
                </a:tc>
              </a:tr>
              <a:tr h="792480">
                <a:tc>
                  <a:txBody>
                    <a:bodyPr/>
                    <a:lstStyle/>
                    <a:p>
                      <a:pPr>
                        <a:defRPr sz="1100" b="1">
                          <a:solidFill>
                            <a:srgbClr val="EE0033"/>
                          </a:solidFill>
                        </a:defRPr>
                      </a:pPr>
                      <a:r>
                        <a:t>TCT CP Công trình Viettel (VCC)</a:t>
                      </a:r>
                    </a:p>
                  </a:txBody>
                  <a:tcPr>
                    <a:solidFill>
                      <a:srgbClr val="FEF2F2"/>
                    </a:solidFill>
                  </a:tcPr>
                </a:tc>
                <a:tc>
                  <a:txBody>
                    <a:bodyPr/>
                    <a:lstStyle/>
                    <a:p>
                      <a:pPr algn="r">
                        <a:defRPr sz="1100" b="1">
                          <a:solidFill>
                            <a:srgbClr val="EE0033"/>
                          </a:solidFill>
                        </a:defRPr>
                      </a:pPr>
                      <a:r>
                        <a:t>234.00 Tỷ</a:t>
                      </a:r>
                    </a:p>
                  </a:txBody>
                  <a:tcPr>
                    <a:solidFill>
                      <a:srgbClr val="FEF2F2"/>
                    </a:solidFill>
                  </a:tcPr>
                </a:tc>
                <a:tc>
                  <a:txBody>
                    <a:bodyPr/>
                    <a:lstStyle/>
                    <a:p>
                      <a:pPr algn="r">
                        <a:defRPr sz="1100" b="1">
                          <a:solidFill>
                            <a:srgbClr val="EE0033"/>
                          </a:solidFill>
                        </a:defRPr>
                      </a:pPr>
                      <a:r>
                        <a:t>43.0%</a:t>
                      </a:r>
                    </a:p>
                  </a:txBody>
                  <a:tcPr>
                    <a:solidFill>
                      <a:srgbClr val="FEF2F2"/>
                    </a:solidFill>
                  </a:tcPr>
                </a:tc>
                <a:tc>
                  <a:txBody>
                    <a:bodyPr/>
                    <a:lstStyle/>
                    <a:p>
                      <a:pPr algn="ctr">
                        <a:defRPr sz="1100" b="1">
                          <a:solidFill>
                            <a:srgbClr val="EE0033"/>
                          </a:solidFill>
                        </a:defRPr>
                      </a:pPr>
                      <a:r>
                        <a:t>🔥 RẤT CAO (TOP 1)</a:t>
                      </a:r>
                    </a:p>
                  </a:txBody>
                  <a:tcPr>
                    <a:solidFill>
                      <a:srgbClr val="FEF2F2"/>
                    </a:solidFill>
                  </a:tcPr>
                </a:tc>
              </a:tr>
              <a:tr h="792480">
                <a:tc>
                  <a:txBody>
                    <a:bodyPr/>
                    <a:lstStyle/>
                    <a:p>
                      <a:pPr>
                        <a:defRPr sz="1100" b="1">
                          <a:solidFill>
                            <a:srgbClr val="EE0033"/>
                          </a:solidFill>
                        </a:defRPr>
                      </a:pPr>
                      <a:r>
                        <a:t>Công ty CP Viễn thông ACT</a:t>
                      </a:r>
                    </a:p>
                  </a:txBody>
                  <a:tcPr>
                    <a:solidFill>
                      <a:srgbClr val="FEF2F2"/>
                    </a:solidFill>
                  </a:tcPr>
                </a:tc>
                <a:tc>
                  <a:txBody>
                    <a:bodyPr/>
                    <a:lstStyle/>
                    <a:p>
                      <a:pPr algn="r">
                        <a:defRPr sz="1100" b="1">
                          <a:solidFill>
                            <a:srgbClr val="EE0033"/>
                          </a:solidFill>
                        </a:defRPr>
                      </a:pPr>
                      <a:r>
                        <a:t>169.39 Tỷ</a:t>
                      </a:r>
                    </a:p>
                  </a:txBody>
                  <a:tcPr>
                    <a:solidFill>
                      <a:srgbClr val="FEF2F2"/>
                    </a:solidFill>
                  </a:tcPr>
                </a:tc>
                <a:tc>
                  <a:txBody>
                    <a:bodyPr/>
                    <a:lstStyle/>
                    <a:p>
                      <a:pPr algn="r">
                        <a:defRPr sz="1100" b="1">
                          <a:solidFill>
                            <a:srgbClr val="EE0033"/>
                          </a:solidFill>
                        </a:defRPr>
                      </a:pPr>
                      <a:r>
                        <a:t>31.1%</a:t>
                      </a:r>
                    </a:p>
                  </a:txBody>
                  <a:tcPr>
                    <a:solidFill>
                      <a:srgbClr val="FEF2F2"/>
                    </a:solidFill>
                  </a:tcPr>
                </a:tc>
                <a:tc>
                  <a:txBody>
                    <a:bodyPr/>
                    <a:lstStyle/>
                    <a:p>
                      <a:pPr algn="ctr">
                        <a:defRPr sz="1100" b="1">
                          <a:solidFill>
                            <a:srgbClr val="EE0033"/>
                          </a:solidFill>
                        </a:defRPr>
                      </a:pPr>
                      <a:r>
                        <a:t>🔥 RẤT CAO (TOP 2)</a:t>
                      </a:r>
                    </a:p>
                  </a:txBody>
                  <a:tcPr>
                    <a:solidFill>
                      <a:srgbClr val="FEF2F2"/>
                    </a:solidFill>
                  </a:tcPr>
                </a:tc>
              </a:tr>
              <a:tr h="792480">
                <a:tc>
                  <a:txBody>
                    <a:bodyPr/>
                    <a:lstStyle/>
                    <a:p>
                      <a:pPr>
                        <a:defRPr sz="1100" b="0">
                          <a:solidFill>
                            <a:srgbClr val="1E293B"/>
                          </a:solidFill>
                        </a:defRPr>
                      </a:pPr>
                      <a:r>
                        <a:t>Công ty CP Phát triển DV TLI</a:t>
                      </a:r>
                    </a:p>
                  </a:txBody>
                  <a:tcPr>
                    <a:solidFill>
                      <a:srgbClr val="FFFFFF"/>
                    </a:solidFill>
                  </a:tcPr>
                </a:tc>
                <a:tc>
                  <a:txBody>
                    <a:bodyPr/>
                    <a:lstStyle/>
                    <a:p>
                      <a:pPr algn="r">
                        <a:defRPr sz="1100" b="1">
                          <a:solidFill>
                            <a:srgbClr val="1E293B"/>
                          </a:solidFill>
                        </a:defRPr>
                      </a:pPr>
                      <a:r>
                        <a:t>43.77 Tỷ</a:t>
                      </a:r>
                    </a:p>
                  </a:txBody>
                  <a:tcPr>
                    <a:solidFill>
                      <a:srgbClr val="FFFFFF"/>
                    </a:solidFill>
                  </a:tcPr>
                </a:tc>
                <a:tc>
                  <a:txBody>
                    <a:bodyPr/>
                    <a:lstStyle/>
                    <a:p>
                      <a:pPr algn="r">
                        <a:defRPr sz="1100" b="0">
                          <a:solidFill>
                            <a:srgbClr val="1E293B"/>
                          </a:solidFill>
                        </a:defRPr>
                      </a:pPr>
                      <a:r>
                        <a:t>8.0%</a:t>
                      </a:r>
                    </a:p>
                  </a:txBody>
                  <a:tcPr>
                    <a:solidFill>
                      <a:srgbClr val="FFFFFF"/>
                    </a:solidFill>
                  </a:tcPr>
                </a:tc>
                <a:tc>
                  <a:txBody>
                    <a:bodyPr/>
                    <a:lstStyle/>
                    <a:p>
                      <a:pPr algn="ctr">
                        <a:defRPr sz="1100" b="0">
                          <a:solidFill>
                            <a:srgbClr val="1E293B"/>
                          </a:solidFill>
                        </a:defRPr>
                      </a:pPr>
                      <a:r>
                        <a:t>⚠️ Cảnh báo</a:t>
                      </a:r>
                    </a:p>
                  </a:txBody>
                  <a:tcPr>
                    <a:solidFill>
                      <a:srgbClr val="FFFFFF"/>
                    </a:solidFill>
                  </a:tcPr>
                </a:tc>
              </a:tr>
              <a:tr h="792480">
                <a:tc>
                  <a:txBody>
                    <a:bodyPr/>
                    <a:lstStyle/>
                    <a:p>
                      <a:pPr>
                        <a:defRPr sz="1100" b="0">
                          <a:solidFill>
                            <a:srgbClr val="1E293B"/>
                          </a:solidFill>
                        </a:defRPr>
                      </a:pPr>
                      <a:r>
                        <a:t>Công ty TNHH Samaki Đông Dương</a:t>
                      </a:r>
                    </a:p>
                  </a:txBody>
                  <a:tcPr>
                    <a:solidFill>
                      <a:srgbClr val="FFFFFF"/>
                    </a:solidFill>
                  </a:tcPr>
                </a:tc>
                <a:tc>
                  <a:txBody>
                    <a:bodyPr/>
                    <a:lstStyle/>
                    <a:p>
                      <a:pPr algn="r">
                        <a:defRPr sz="1100" b="1">
                          <a:solidFill>
                            <a:srgbClr val="1E293B"/>
                          </a:solidFill>
                        </a:defRPr>
                      </a:pPr>
                      <a:r>
                        <a:t>28.21 Tỷ</a:t>
                      </a:r>
                    </a:p>
                  </a:txBody>
                  <a:tcPr>
                    <a:solidFill>
                      <a:srgbClr val="FFFFFF"/>
                    </a:solidFill>
                  </a:tcPr>
                </a:tc>
                <a:tc>
                  <a:txBody>
                    <a:bodyPr/>
                    <a:lstStyle/>
                    <a:p>
                      <a:pPr algn="r">
                        <a:defRPr sz="1100" b="0">
                          <a:solidFill>
                            <a:srgbClr val="1E293B"/>
                          </a:solidFill>
                        </a:defRPr>
                      </a:pPr>
                      <a:r>
                        <a:t>5.2%</a:t>
                      </a:r>
                    </a:p>
                  </a:txBody>
                  <a:tcPr>
                    <a:solidFill>
                      <a:srgbClr val="FFFFFF"/>
                    </a:solidFill>
                  </a:tcPr>
                </a:tc>
                <a:tc>
                  <a:txBody>
                    <a:bodyPr/>
                    <a:lstStyle/>
                    <a:p>
                      <a:pPr algn="ctr">
                        <a:defRPr sz="1100" b="0">
                          <a:solidFill>
                            <a:srgbClr val="1E293B"/>
                          </a:solidFill>
                        </a:defRPr>
                      </a:pPr>
                      <a:r>
                        <a:t>⚠️ Cảnh báo</a:t>
                      </a:r>
                    </a:p>
                  </a:txBody>
                  <a:tcPr>
                    <a:solidFill>
                      <a:srgbClr val="FFFFFF"/>
                    </a:solidFill>
                  </a:tcPr>
                </a:tc>
              </a:tr>
              <a:tr h="792480">
                <a:tc>
                  <a:txBody>
                    <a:bodyPr/>
                    <a:lstStyle/>
                    <a:p>
                      <a:pPr>
                        <a:defRPr sz="1100" b="0">
                          <a:solidFill>
                            <a:srgbClr val="1E293B"/>
                          </a:solidFill>
                        </a:defRPr>
                      </a:pPr>
                      <a:r>
                        <a:t>CTY TNHH TMDV KT VT An Phát</a:t>
                      </a:r>
                    </a:p>
                  </a:txBody>
                  <a:tcPr>
                    <a:solidFill>
                      <a:srgbClr val="FFFFFF"/>
                    </a:solidFill>
                  </a:tcPr>
                </a:tc>
                <a:tc>
                  <a:txBody>
                    <a:bodyPr/>
                    <a:lstStyle/>
                    <a:p>
                      <a:pPr algn="r">
                        <a:defRPr sz="1100" b="1">
                          <a:solidFill>
                            <a:srgbClr val="1E293B"/>
                          </a:solidFill>
                        </a:defRPr>
                      </a:pPr>
                      <a:r>
                        <a:t>17.82 Tỷ</a:t>
                      </a:r>
                    </a:p>
                  </a:txBody>
                  <a:tcPr>
                    <a:solidFill>
                      <a:srgbClr val="FFFFFF"/>
                    </a:solidFill>
                  </a:tcPr>
                </a:tc>
                <a:tc>
                  <a:txBody>
                    <a:bodyPr/>
                    <a:lstStyle/>
                    <a:p>
                      <a:pPr algn="r">
                        <a:defRPr sz="1100" b="0">
                          <a:solidFill>
                            <a:srgbClr val="1E293B"/>
                          </a:solidFill>
                        </a:defRPr>
                      </a:pPr>
                      <a:r>
                        <a:t>3.3%</a:t>
                      </a:r>
                    </a:p>
                  </a:txBody>
                  <a:tcPr>
                    <a:solidFill>
                      <a:srgbClr val="FFFFFF"/>
                    </a:solidFill>
                  </a:tcPr>
                </a:tc>
                <a:tc>
                  <a:txBody>
                    <a:bodyPr/>
                    <a:lstStyle/>
                    <a:p>
                      <a:pPr algn="ctr">
                        <a:defRPr sz="1100" b="0">
                          <a:solidFill>
                            <a:srgbClr val="1E293B"/>
                          </a:solidFill>
                        </a:defRPr>
                      </a:pPr>
                      <a:r>
                        <a:t>Bình thường</a:t>
                      </a:r>
                    </a:p>
                  </a:txBody>
                  <a:tcPr>
                    <a:solidFill>
                      <a:srgbClr val="FFFFFF"/>
                    </a:solidFill>
                  </a:tcPr>
                </a:tc>
              </a:tr>
            </a:tbl>
          </a:graphicData>
        </a:graphic>
      </p:graphicFrame>
      <p:sp>
        <p:nvSpPr>
          <p:cNvPr id="5" name="Rounded Rectangle 4"/>
          <p:cNvSpPr/>
          <p:nvPr/>
        </p:nvSpPr>
        <p:spPr>
          <a:xfrm>
            <a:off x="7589520" y="1463040"/>
            <a:ext cx="4023360" cy="4754880"/>
          </a:xfrm>
          <a:prstGeom prst="roundRect">
            <a:avLst/>
          </a:prstGeom>
          <a:solidFill>
            <a:srgbClr val="FFFFFF"/>
          </a:solidFill>
          <a:ln w="25400">
            <a:solidFill>
              <a:srgbClr val="EE0033"/>
            </a:solidFill>
          </a:ln>
        </p:spPr>
        <p:style>
          <a:lnRef idx="1">
            <a:schemeClr val="accent1"/>
          </a:lnRef>
          <a:fillRef idx="3">
            <a:schemeClr val="accent1"/>
          </a:fillRef>
          <a:effectRef idx="2">
            <a:schemeClr val="accent1"/>
          </a:effectRef>
          <a:fontRef idx="minor">
            <a:schemeClr val="lt1"/>
          </a:fontRef>
        </p:style>
        <p:txBody>
          <a:bodyPr rtlCol="0" anchor="ctr" wrap="square" lIns="228600" tIns="228600" rIns="228600" bIns="228600"/>
          <a:lstStyle/>
          <a:p>
            <a:pPr algn="ctr">
              <a:defRPr sz="1500" b="1">
                <a:solidFill>
                  <a:srgbClr val="EE0033"/>
                </a:solidFill>
              </a:defRPr>
            </a:pPr>
            <a:r>
              <a:t>🎯 NHẬN DIỆN ĐÁNH TRỌNG TÂM:</a:t>
            </a:r>
          </a:p>
          <a:p>
            <a:pPr>
              <a:spcBef>
                <a:spcPts val="1200"/>
              </a:spcBef>
            </a:pPr>
            <a:r>
              <a:rPr b="1" sz="1200">
                <a:solidFill>
                  <a:srgbClr val="1E293B"/>
                </a:solidFill>
              </a:rPr>
              <a:t>74.1% Công Nợ Chiếm Bởi TOP 2 Ông Lớn:
</a:t>
            </a:r>
            <a:r>
              <a:rPr sz="1100">
                <a:solidFill>
                  <a:srgbClr val="64748B"/>
                </a:solidFill>
              </a:rPr>
              <a:t>Tổng công nợ VTA Nguồn Đầu tư của VCC và ACT cộng lại đạt 403.39 Tỷ VNĐ. Nếu xử lý dứt điểm cho 2 nhà thầu này, tập đoàn giải quyết được gần 3/4 tồn đọng VTA toàn hệ thống.</a:t>
            </a:r>
          </a:p>
          <a:p>
            <a:pPr>
              <a:spcBef>
                <a:spcPts val="1200"/>
              </a:spcBef>
            </a:pPr>
            <a:r>
              <a:rPr b="1" sz="1200">
                <a:solidFill>
                  <a:srgbClr val="1E293B"/>
                </a:solidFill>
              </a:rPr>
              <a:t>TCT CP Công trình Viettel (VCC):
</a:t>
            </a:r>
            <a:r>
              <a:rPr sz="1100">
                <a:solidFill>
                  <a:srgbClr val="64748B"/>
                </a:solidFill>
              </a:rPr>
              <a:t>Đứng số 1 toàn tập đoàn với 234 Tỷ VNĐ tồn VTA (chiếm 43.0%). Cần thành lập Tổ đôn đốc chuyên trách chốt lịch hoàn ứng VTA từng tháng.</a:t>
            </a:r>
          </a:p>
          <a:p>
            <a:pPr>
              <a:spcBef>
                <a:spcPts val="1200"/>
              </a:spcBef>
            </a:pPr>
            <a:r>
              <a:rPr b="1" sz="1200">
                <a:solidFill>
                  <a:srgbClr val="1E293B"/>
                </a:solidFill>
              </a:rPr>
              <a:t>Công ty CP Viễn thông ACT:
</a:t>
            </a:r>
            <a:r>
              <a:rPr sz="1100">
                <a:solidFill>
                  <a:srgbClr val="64748B"/>
                </a:solidFill>
              </a:rPr>
              <a:t>Đứng số 2 với 169.39 Tỷ VNĐ tồn VTA (chiếm 31.1%). Yêu cầu làm việc với Lãnh đạo ACT để cam kết tiến độ nghiệm thu hoàn ứng VTA.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822960"/>
          </a:xfrm>
          <a:prstGeom prst="rect">
            <a:avLst/>
          </a:prstGeom>
          <a:noFill/>
        </p:spPr>
        <p:txBody>
          <a:bodyPr wrap="square" lIns="0" tIns="0" rIns="0" bIns="0">
            <a:spAutoFit/>
          </a:bodyPr>
          <a:lstStyle/>
          <a:p>
            <a:pPr>
              <a:defRPr sz="1000" b="1">
                <a:solidFill>
                  <a:srgbClr val="EE0033"/>
                </a:solidFill>
              </a:defRPr>
            </a:pPr>
            <a:r>
              <a:t>CẢNH BÁO RỦI RO HỢP ĐỒNG</a:t>
            </a:r>
          </a:p>
          <a:p>
            <a:pPr>
              <a:defRPr sz="2000" b="1">
                <a:solidFill>
                  <a:srgbClr val="1E293B"/>
                </a:solidFill>
              </a:defRPr>
            </a:pPr>
            <a:r>
              <a:t>TRỌNG TÂM 2: CẢNH BÁO HỢP ĐỒNG CHI PHÍ TỒN ĐỌNG TỪ TRƯỚC 2025 (&lt; 2025)</a:t>
            </a:r>
          </a:p>
        </p:txBody>
      </p:sp>
      <p:sp>
        <p:nvSpPr>
          <p:cNvPr id="3" name="Rectangle 2"/>
          <p:cNvSpPr/>
          <p:nvPr/>
        </p:nvSpPr>
        <p:spPr>
          <a:xfrm>
            <a:off x="548640" y="1234440"/>
            <a:ext cx="11094415" cy="36576"/>
          </a:xfrm>
          <a:prstGeom prst="rect">
            <a:avLst/>
          </a:prstGeom>
          <a:solidFill>
            <a:srgbClr val="EE0033"/>
          </a:solidFill>
          <a:ln>
            <a:solidFill>
              <a:srgbClr val="EE00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463040"/>
          <a:ext cx="6858000" cy="4754880"/>
        </p:xfrm>
        <a:graphic>
          <a:graphicData uri="http://schemas.openxmlformats.org/drawingml/2006/table">
            <a:tbl>
              <a:tblPr firstRow="1" bandRow="1">
                <a:tableStyleId>{5C22544A-7EE6-4342-B048-85BDC9FD1C3A}</a:tableStyleId>
              </a:tblPr>
              <a:tblGrid>
                <a:gridCol w="2926080"/>
                <a:gridCol w="1280160"/>
                <a:gridCol w="1280160"/>
                <a:gridCol w="1371600"/>
              </a:tblGrid>
              <a:tr h="792480">
                <a:tc>
                  <a:txBody>
                    <a:bodyPr/>
                    <a:lstStyle/>
                    <a:p>
                      <a:pPr algn="l">
                        <a:defRPr b="1" sz="1100">
                          <a:solidFill>
                            <a:srgbClr val="FFFFFF"/>
                          </a:solidFill>
                        </a:defRPr>
                      </a:pPr>
                      <a:r>
                        <a:t>Nhà Thầu Đối Tác</a:t>
                      </a:r>
                    </a:p>
                  </a:txBody>
                  <a:tcPr>
                    <a:solidFill>
                      <a:srgbClr val="1E293B"/>
                    </a:solidFill>
                  </a:tcPr>
                </a:tc>
                <a:tc>
                  <a:txBody>
                    <a:bodyPr/>
                    <a:lstStyle/>
                    <a:p>
                      <a:pPr algn="ctr">
                        <a:defRPr b="1" sz="1100">
                          <a:solidFill>
                            <a:srgbClr val="FFFFFF"/>
                          </a:solidFill>
                        </a:defRPr>
                      </a:pPr>
                      <a:r>
                        <a:t>Số HĐ &lt; 2025</a:t>
                      </a:r>
                    </a:p>
                  </a:txBody>
                  <a:tcPr>
                    <a:solidFill>
                      <a:srgbClr val="1E293B"/>
                    </a:solidFill>
                  </a:tcPr>
                </a:tc>
                <a:tc>
                  <a:txBody>
                    <a:bodyPr/>
                    <a:lstStyle/>
                    <a:p>
                      <a:pPr algn="ctr">
                        <a:defRPr b="1" sz="1100">
                          <a:solidFill>
                            <a:srgbClr val="FFFFFF"/>
                          </a:solidFill>
                        </a:defRPr>
                      </a:pPr>
                      <a:r>
                        <a:t>Tổng Số CT</a:t>
                      </a:r>
                    </a:p>
                  </a:txBody>
                  <a:tcPr>
                    <a:solidFill>
                      <a:srgbClr val="1E293B"/>
                    </a:solidFill>
                  </a:tcPr>
                </a:tc>
                <a:tc>
                  <a:txBody>
                    <a:bodyPr/>
                    <a:lstStyle/>
                    <a:p>
                      <a:pPr algn="ctr">
                        <a:defRPr b="1" sz="1100">
                          <a:solidFill>
                            <a:srgbClr val="FFFFFF"/>
                          </a:solidFill>
                        </a:defRPr>
                      </a:pPr>
                      <a:r>
                        <a:t>Cảnh Báo Rủi Ro</a:t>
                      </a:r>
                    </a:p>
                  </a:txBody>
                  <a:tcPr>
                    <a:solidFill>
                      <a:srgbClr val="1E293B"/>
                    </a:solidFill>
                  </a:tcPr>
                </a:tc>
              </a:tr>
              <a:tr h="792480">
                <a:tc>
                  <a:txBody>
                    <a:bodyPr/>
                    <a:lstStyle/>
                    <a:p>
                      <a:pPr>
                        <a:defRPr sz="1100" b="1">
                          <a:solidFill>
                            <a:srgbClr val="EE0033"/>
                          </a:solidFill>
                        </a:defRPr>
                      </a:pPr>
                      <a:r>
                        <a:t>TCT CP Công trình Viettel (VCC)</a:t>
                      </a:r>
                    </a:p>
                  </a:txBody>
                  <a:tcPr>
                    <a:solidFill>
                      <a:srgbClr val="FEF2F2"/>
                    </a:solidFill>
                  </a:tcPr>
                </a:tc>
                <a:tc>
                  <a:txBody>
                    <a:bodyPr/>
                    <a:lstStyle/>
                    <a:p>
                      <a:pPr algn="ctr">
                        <a:defRPr sz="1100" b="1">
                          <a:solidFill>
                            <a:srgbClr val="EE0033"/>
                          </a:solidFill>
                        </a:defRPr>
                      </a:pPr>
                      <a:r>
                        <a:t>32 HĐ</a:t>
                      </a:r>
                    </a:p>
                  </a:txBody>
                  <a:tcPr>
                    <a:solidFill>
                      <a:srgbClr val="FEF2F2"/>
                    </a:solidFill>
                  </a:tcPr>
                </a:tc>
                <a:tc>
                  <a:txBody>
                    <a:bodyPr/>
                    <a:lstStyle/>
                    <a:p>
                      <a:pPr algn="ctr">
                        <a:defRPr sz="1100" b="1">
                          <a:solidFill>
                            <a:srgbClr val="EE0033"/>
                          </a:solidFill>
                        </a:defRPr>
                      </a:pPr>
                      <a:r>
                        <a:t>247 Công trình</a:t>
                      </a:r>
                    </a:p>
                  </a:txBody>
                  <a:tcPr>
                    <a:solidFill>
                      <a:srgbClr val="FEF2F2"/>
                    </a:solidFill>
                  </a:tcPr>
                </a:tc>
                <a:tc>
                  <a:txBody>
                    <a:bodyPr/>
                    <a:lstStyle/>
                    <a:p>
                      <a:pPr algn="ctr">
                        <a:defRPr sz="1100" b="1">
                          <a:solidFill>
                            <a:srgbClr val="EE0033"/>
                          </a:solidFill>
                        </a:defRPr>
                      </a:pPr>
                      <a:r>
                        <a:t>🔥 ĐỌNG NHIỀU NHẤT</a:t>
                      </a:r>
                    </a:p>
                  </a:txBody>
                  <a:tcPr>
                    <a:solidFill>
                      <a:srgbClr val="FEF2F2"/>
                    </a:solidFill>
                  </a:tcPr>
                </a:tc>
              </a:tr>
              <a:tr h="792480">
                <a:tc>
                  <a:txBody>
                    <a:bodyPr/>
                    <a:lstStyle/>
                    <a:p>
                      <a:pPr>
                        <a:defRPr sz="1100" b="0">
                          <a:solidFill>
                            <a:srgbClr val="1E293B"/>
                          </a:solidFill>
                        </a:defRPr>
                      </a:pPr>
                      <a:r>
                        <a:t>Công ty TNHH MTV TM-DV Mai Tú Tài</a:t>
                      </a:r>
                    </a:p>
                  </a:txBody>
                  <a:tcPr>
                    <a:solidFill>
                      <a:srgbClr val="FFFFFF"/>
                    </a:solidFill>
                  </a:tcPr>
                </a:tc>
                <a:tc>
                  <a:txBody>
                    <a:bodyPr/>
                    <a:lstStyle/>
                    <a:p>
                      <a:pPr algn="ctr">
                        <a:defRPr sz="1100" b="1">
                          <a:solidFill>
                            <a:srgbClr val="1E293B"/>
                          </a:solidFill>
                        </a:defRPr>
                      </a:pPr>
                      <a:r>
                        <a:t>11 HĐ</a:t>
                      </a:r>
                    </a:p>
                  </a:txBody>
                  <a:tcPr>
                    <a:solidFill>
                      <a:srgbClr val="FFFFFF"/>
                    </a:solidFill>
                  </a:tcPr>
                </a:tc>
                <a:tc>
                  <a:txBody>
                    <a:bodyPr/>
                    <a:lstStyle/>
                    <a:p>
                      <a:pPr algn="ctr">
                        <a:defRPr sz="1100" b="0">
                          <a:solidFill>
                            <a:srgbClr val="1E293B"/>
                          </a:solidFill>
                        </a:defRPr>
                      </a:pPr>
                      <a:r>
                        <a:t>85 Công trình</a:t>
                      </a:r>
                    </a:p>
                  </a:txBody>
                  <a:tcPr>
                    <a:solidFill>
                      <a:srgbClr val="FFFFFF"/>
                    </a:solidFill>
                  </a:tcPr>
                </a:tc>
                <a:tc>
                  <a:txBody>
                    <a:bodyPr/>
                    <a:lstStyle/>
                    <a:p>
                      <a:pPr algn="ctr">
                        <a:defRPr sz="1100" b="0">
                          <a:solidFill>
                            <a:srgbClr val="1E293B"/>
                          </a:solidFill>
                        </a:defRPr>
                      </a:pPr>
                      <a:r>
                        <a:t>⚠️ Cảnh báo cao</a:t>
                      </a:r>
                    </a:p>
                  </a:txBody>
                  <a:tcPr>
                    <a:solidFill>
                      <a:srgbClr val="FFFFFF"/>
                    </a:solidFill>
                  </a:tcPr>
                </a:tc>
              </a:tr>
              <a:tr h="792480">
                <a:tc>
                  <a:txBody>
                    <a:bodyPr/>
                    <a:lstStyle/>
                    <a:p>
                      <a:pPr>
                        <a:defRPr sz="1100" b="0">
                          <a:solidFill>
                            <a:srgbClr val="1E293B"/>
                          </a:solidFill>
                        </a:defRPr>
                      </a:pPr>
                      <a:r>
                        <a:t>CTY TNHH TMDV KT Tiến Thịnh</a:t>
                      </a:r>
                    </a:p>
                  </a:txBody>
                  <a:tcPr>
                    <a:solidFill>
                      <a:srgbClr val="FFFFFF"/>
                    </a:solidFill>
                  </a:tcPr>
                </a:tc>
                <a:tc>
                  <a:txBody>
                    <a:bodyPr/>
                    <a:lstStyle/>
                    <a:p>
                      <a:pPr algn="ctr">
                        <a:defRPr sz="1100" b="1">
                          <a:solidFill>
                            <a:srgbClr val="1E293B"/>
                          </a:solidFill>
                        </a:defRPr>
                      </a:pPr>
                      <a:r>
                        <a:t>6 HĐ</a:t>
                      </a:r>
                    </a:p>
                  </a:txBody>
                  <a:tcPr>
                    <a:solidFill>
                      <a:srgbClr val="FFFFFF"/>
                    </a:solidFill>
                  </a:tcPr>
                </a:tc>
                <a:tc>
                  <a:txBody>
                    <a:bodyPr/>
                    <a:lstStyle/>
                    <a:p>
                      <a:pPr algn="ctr">
                        <a:defRPr sz="1100" b="0">
                          <a:solidFill>
                            <a:srgbClr val="1E293B"/>
                          </a:solidFill>
                        </a:defRPr>
                      </a:pPr>
                      <a:r>
                        <a:t>42 Công trình</a:t>
                      </a:r>
                    </a:p>
                  </a:txBody>
                  <a:tcPr>
                    <a:solidFill>
                      <a:srgbClr val="FFFFFF"/>
                    </a:solidFill>
                  </a:tcPr>
                </a:tc>
                <a:tc>
                  <a:txBody>
                    <a:bodyPr/>
                    <a:lstStyle/>
                    <a:p>
                      <a:pPr algn="ctr">
                        <a:defRPr sz="1100" b="0">
                          <a:solidFill>
                            <a:srgbClr val="1E293B"/>
                          </a:solidFill>
                        </a:defRPr>
                      </a:pPr>
                      <a:r>
                        <a:t>⚠️ Cảnh báo</a:t>
                      </a:r>
                    </a:p>
                  </a:txBody>
                  <a:tcPr>
                    <a:solidFill>
                      <a:srgbClr val="FFFFFF"/>
                    </a:solidFill>
                  </a:tcPr>
                </a:tc>
              </a:tr>
              <a:tr h="792480">
                <a:tc>
                  <a:txBody>
                    <a:bodyPr/>
                    <a:lstStyle/>
                    <a:p>
                      <a:pPr>
                        <a:defRPr sz="1100" b="0">
                          <a:solidFill>
                            <a:srgbClr val="1E293B"/>
                          </a:solidFill>
                        </a:defRPr>
                      </a:pPr>
                      <a:r>
                        <a:t>Công ty TNHH VT Tân Thanh</a:t>
                      </a:r>
                    </a:p>
                  </a:txBody>
                  <a:tcPr>
                    <a:solidFill>
                      <a:srgbClr val="FFFFFF"/>
                    </a:solidFill>
                  </a:tcPr>
                </a:tc>
                <a:tc>
                  <a:txBody>
                    <a:bodyPr/>
                    <a:lstStyle/>
                    <a:p>
                      <a:pPr algn="ctr">
                        <a:defRPr sz="1100" b="1">
                          <a:solidFill>
                            <a:srgbClr val="1E293B"/>
                          </a:solidFill>
                        </a:defRPr>
                      </a:pPr>
                      <a:r>
                        <a:t>6 HĐ</a:t>
                      </a:r>
                    </a:p>
                  </a:txBody>
                  <a:tcPr>
                    <a:solidFill>
                      <a:srgbClr val="FFFFFF"/>
                    </a:solidFill>
                  </a:tcPr>
                </a:tc>
                <a:tc>
                  <a:txBody>
                    <a:bodyPr/>
                    <a:lstStyle/>
                    <a:p>
                      <a:pPr algn="ctr">
                        <a:defRPr sz="1100" b="0">
                          <a:solidFill>
                            <a:srgbClr val="1E293B"/>
                          </a:solidFill>
                        </a:defRPr>
                      </a:pPr>
                      <a:r>
                        <a:t>38 Công trình</a:t>
                      </a:r>
                    </a:p>
                  </a:txBody>
                  <a:tcPr>
                    <a:solidFill>
                      <a:srgbClr val="FFFFFF"/>
                    </a:solidFill>
                  </a:tcPr>
                </a:tc>
                <a:tc>
                  <a:txBody>
                    <a:bodyPr/>
                    <a:lstStyle/>
                    <a:p>
                      <a:pPr algn="ctr">
                        <a:defRPr sz="1100" b="0">
                          <a:solidFill>
                            <a:srgbClr val="1E293B"/>
                          </a:solidFill>
                        </a:defRPr>
                      </a:pPr>
                      <a:r>
                        <a:t>⚠️ Cảnh báo</a:t>
                      </a:r>
                    </a:p>
                  </a:txBody>
                  <a:tcPr>
                    <a:solidFill>
                      <a:srgbClr val="FFFFFF"/>
                    </a:solidFill>
                  </a:tcPr>
                </a:tc>
              </a:tr>
              <a:tr h="792480">
                <a:tc>
                  <a:txBody>
                    <a:bodyPr/>
                    <a:lstStyle/>
                    <a:p>
                      <a:pPr>
                        <a:defRPr sz="1100" b="0">
                          <a:solidFill>
                            <a:srgbClr val="1E293B"/>
                          </a:solidFill>
                        </a:defRPr>
                      </a:pPr>
                      <a:r>
                        <a:t>Công ty CP Viễn thông ACT</a:t>
                      </a:r>
                    </a:p>
                  </a:txBody>
                  <a:tcPr>
                    <a:solidFill>
                      <a:srgbClr val="FFFFFF"/>
                    </a:solidFill>
                  </a:tcPr>
                </a:tc>
                <a:tc>
                  <a:txBody>
                    <a:bodyPr/>
                    <a:lstStyle/>
                    <a:p>
                      <a:pPr algn="ctr">
                        <a:defRPr sz="1100" b="1">
                          <a:solidFill>
                            <a:srgbClr val="1E293B"/>
                          </a:solidFill>
                        </a:defRPr>
                      </a:pPr>
                      <a:r>
                        <a:t>5 HĐ</a:t>
                      </a:r>
                    </a:p>
                  </a:txBody>
                  <a:tcPr>
                    <a:solidFill>
                      <a:srgbClr val="FFFFFF"/>
                    </a:solidFill>
                  </a:tcPr>
                </a:tc>
                <a:tc>
                  <a:txBody>
                    <a:bodyPr/>
                    <a:lstStyle/>
                    <a:p>
                      <a:pPr algn="ctr">
                        <a:defRPr sz="1100" b="0">
                          <a:solidFill>
                            <a:srgbClr val="1E293B"/>
                          </a:solidFill>
                        </a:defRPr>
                      </a:pPr>
                      <a:r>
                        <a:t>31 Công trình</a:t>
                      </a:r>
                    </a:p>
                  </a:txBody>
                  <a:tcPr>
                    <a:solidFill>
                      <a:srgbClr val="FFFFFF"/>
                    </a:solidFill>
                  </a:tcPr>
                </a:tc>
                <a:tc>
                  <a:txBody>
                    <a:bodyPr/>
                    <a:lstStyle/>
                    <a:p>
                      <a:pPr algn="ctr">
                        <a:defRPr sz="1100" b="0">
                          <a:solidFill>
                            <a:srgbClr val="1E293B"/>
                          </a:solidFill>
                        </a:defRPr>
                      </a:pPr>
                      <a:r>
                        <a:t>⚠️ Cảnh báo</a:t>
                      </a:r>
                    </a:p>
                  </a:txBody>
                  <a:tcPr>
                    <a:solidFill>
                      <a:srgbClr val="FFFFFF"/>
                    </a:solidFill>
                  </a:tcPr>
                </a:tc>
              </a:tr>
            </a:tbl>
          </a:graphicData>
        </a:graphic>
      </p:graphicFrame>
      <p:sp>
        <p:nvSpPr>
          <p:cNvPr id="5" name="Rounded Rectangle 4"/>
          <p:cNvSpPr/>
          <p:nvPr/>
        </p:nvSpPr>
        <p:spPr>
          <a:xfrm>
            <a:off x="7589520" y="1463040"/>
            <a:ext cx="4023360" cy="4754880"/>
          </a:xfrm>
          <a:prstGeom prst="roundRect">
            <a:avLst/>
          </a:prstGeom>
          <a:solidFill>
            <a:srgbClr val="FFFFFF"/>
          </a:solidFill>
          <a:ln w="254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28600" tIns="228600" rIns="228600" bIns="228600"/>
          <a:lstStyle/>
          <a:p>
            <a:pPr algn="ctr">
              <a:defRPr sz="1500" b="1">
                <a:solidFill>
                  <a:srgbClr val="D97706"/>
                </a:solidFill>
              </a:defRPr>
            </a:pPr>
            <a:r>
              <a:t>⚠️ PHÂN TÍCH RỦI RO CHI PHÍ CŨ:</a:t>
            </a:r>
          </a:p>
          <a:p>
            <a:pPr>
              <a:spcBef>
                <a:spcPts val="1200"/>
              </a:spcBef>
            </a:pPr>
            <a:r>
              <a:rPr b="1" sz="1200">
                <a:solidFill>
                  <a:srgbClr val="1E293B"/>
                </a:solidFill>
              </a:rPr>
              <a:t>78 HĐ Chi Phí Ký Từ 2010 - 2024 chưa thể đóng:
</a:t>
            </a:r>
            <a:r>
              <a:rPr sz="1100">
                <a:solidFill>
                  <a:srgbClr val="64748B"/>
                </a:solidFill>
              </a:rPr>
              <a:t>Tổng giá trị nguồn chi phí tồn đọng &lt; 2025 là 14.78 Tỷ VNĐ. Việc ngâm HĐ chi phí quá lâu gây rủi ro về thời hiệu hợp đồng và quyết toán tài chính.</a:t>
            </a:r>
          </a:p>
          <a:p>
            <a:pPr>
              <a:spcBef>
                <a:spcPts val="1200"/>
              </a:spcBef>
            </a:pPr>
            <a:r>
              <a:rPr b="1" sz="1200">
                <a:solidFill>
                  <a:srgbClr val="1E293B"/>
                </a:solidFill>
              </a:rPr>
              <a:t>TCT Công trình Viettel tiếp tục dẫn đầu:
</a:t>
            </a:r>
            <a:r>
              <a:rPr sz="1100">
                <a:solidFill>
                  <a:srgbClr val="64748B"/>
                </a:solidFill>
              </a:rPr>
              <a:t>VCC không chỉ đứng đầu về VTA Đầu tư mà còn đứng đầu tồn HĐ Chi phí cũ với 32 HĐ (chiếm 41.0% tổng số HĐ chi phí &lt; 2025).</a:t>
            </a:r>
          </a:p>
          <a:p>
            <a:pPr>
              <a:spcBef>
                <a:spcPts val="1200"/>
              </a:spcBef>
            </a:pPr>
            <a:r>
              <a:rPr b="1" sz="1200">
                <a:solidFill>
                  <a:srgbClr val="1E293B"/>
                </a:solidFill>
              </a:rPr>
              <a:t>Yêu cầu xử lý dứt điểm trước 30/10/2026:
</a:t>
            </a:r>
            <a:r>
              <a:rPr sz="1100">
                <a:solidFill>
                  <a:srgbClr val="64748B"/>
                </a:solidFill>
              </a:rPr>
              <a:t>Lập bảng tiến độ chi tiết từng HĐ, phân công rõ người chịu trách nhiệm thu hồi / nghiệm thu dứt điểm các HĐ tồn lâu năm.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822960"/>
          </a:xfrm>
          <a:prstGeom prst="rect">
            <a:avLst/>
          </a:prstGeom>
          <a:noFill/>
        </p:spPr>
        <p:txBody>
          <a:bodyPr wrap="square" lIns="0" tIns="0" rIns="0" bIns="0">
            <a:spAutoFit/>
          </a:bodyPr>
          <a:lstStyle/>
          <a:p>
            <a:pPr>
              <a:defRPr sz="1000" b="1">
                <a:solidFill>
                  <a:srgbClr val="EE0033"/>
                </a:solidFill>
              </a:defRPr>
            </a:pPr>
            <a:r>
              <a:t>ĐÁNH GIÁ KPI KIỂM SOÁT</a:t>
            </a:r>
          </a:p>
          <a:p>
            <a:pPr>
              <a:defRPr sz="2000" b="1">
                <a:solidFill>
                  <a:srgbClr val="1E293B"/>
                </a:solidFill>
              </a:defRPr>
            </a:pPr>
            <a:r>
              <a:t>QUY TẮC KIỂM SOÁT KPI TỒN VẬT TƯ A (AQ - AW &amp; CỘT Q = 'KHÔNG')</a:t>
            </a:r>
          </a:p>
        </p:txBody>
      </p:sp>
      <p:sp>
        <p:nvSpPr>
          <p:cNvPr id="3" name="Rectangle 2"/>
          <p:cNvSpPr/>
          <p:nvPr/>
        </p:nvSpPr>
        <p:spPr>
          <a:xfrm>
            <a:off x="548640" y="1234440"/>
            <a:ext cx="11094415" cy="36576"/>
          </a:xfrm>
          <a:prstGeom prst="rect">
            <a:avLst/>
          </a:prstGeom>
          <a:solidFill>
            <a:srgbClr val="EE0033"/>
          </a:solidFill>
          <a:ln>
            <a:solidFill>
              <a:srgbClr val="EE00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463040"/>
            <a:ext cx="11094415" cy="11887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bIns="137160"/>
          <a:lstStyle/>
          <a:p>
            <a:pPr algn="ctr">
              <a:defRPr sz="1200" b="1">
                <a:solidFill>
                  <a:srgbClr val="EE0033"/>
                </a:solidFill>
              </a:defRPr>
            </a:pPr>
            <a:r>
              <a:t>📌 QUY TẮC ĐÁNH GIÁ KPI CHUẨN XÁC NGUYÊN TẮC QUẢN TRỊ:</a:t>
            </a:r>
          </a:p>
          <a:p>
            <a:pPr>
              <a:spcBef>
                <a:spcPts val="400"/>
              </a:spcBef>
              <a:defRPr sz="1100">
                <a:solidFill>
                  <a:srgbClr val="1E293B"/>
                </a:solidFill>
              </a:defRPr>
            </a:pPr>
            <a:r>
              <a:t>• Giá trị tích '1' tại các Cột AQ-AW: Thể hiện công trình NẰM TRONG DANH MỤC GIAO KPI (không phải là đã đạt).</a:t>
            </a:r>
            <a:br/>
            <a:r>
              <a:t>• Đánh giá ĐẠT KPI (✓): Bắt buộc Cột Q ('Tồn Vật tư A') phải hiện chữ 'KHÔNG' (tức là đã dọn sạch tồn VTA).</a:t>
            </a:r>
            <a:br/>
            <a:r>
              <a:t>• Đánh giá VƯỚNG KPI (✗): Nếu Cột Q hiện chữ 'CÓ' (hoặc phát sinh số tiền tồn VTA &gt; 0).</a:t>
            </a:r>
          </a:p>
        </p:txBody>
      </p:sp>
      <p:sp>
        <p:nvSpPr>
          <p:cNvPr id="5" name="Rounded Rectangle 4"/>
          <p:cNvSpPr/>
          <p:nvPr/>
        </p:nvSpPr>
        <p:spPr>
          <a:xfrm>
            <a:off x="548640" y="2834640"/>
            <a:ext cx="3566160" cy="164592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bIns="137160"/>
          <a:lstStyle/>
          <a:p>
            <a:pPr algn="ctr">
              <a:defRPr sz="1300" b="1">
                <a:solidFill>
                  <a:srgbClr val="EE0033"/>
                </a:solidFill>
              </a:defRPr>
            </a:pPr>
            <a:r>
              <a:t>AQ: KH VTT</a:t>
            </a:r>
          </a:p>
          <a:p>
            <a:pPr>
              <a:spcBef>
                <a:spcPts val="200"/>
              </a:spcBef>
              <a:defRPr sz="1200" b="1">
                <a:solidFill>
                  <a:srgbClr val="1E293B"/>
                </a:solidFill>
              </a:defRPr>
            </a:pPr>
            <a:r>
              <a:t>Chấm điểm GĐ</a:t>
            </a:r>
          </a:p>
          <a:p>
            <a:pPr>
              <a:spcBef>
                <a:spcPts val="200"/>
              </a:spcBef>
              <a:defRPr sz="1000">
                <a:solidFill>
                  <a:srgbClr val="64748B"/>
                </a:solidFill>
              </a:defRPr>
            </a:pPr>
            <a:r>
              <a:t>Chỉ tiêu Kế hoạch Vật tư thiết bị</a:t>
            </a:r>
          </a:p>
        </p:txBody>
      </p:sp>
      <p:sp>
        <p:nvSpPr>
          <p:cNvPr id="6" name="Rounded Rectangle 5"/>
          <p:cNvSpPr/>
          <p:nvPr/>
        </p:nvSpPr>
        <p:spPr>
          <a:xfrm>
            <a:off x="4297679" y="2834640"/>
            <a:ext cx="3566160" cy="164592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bIns="137160"/>
          <a:lstStyle/>
          <a:p>
            <a:pPr algn="ctr">
              <a:defRPr sz="1300" b="1">
                <a:solidFill>
                  <a:srgbClr val="EE0033"/>
                </a:solidFill>
              </a:defRPr>
            </a:pPr>
            <a:r>
              <a:t>AR: NT BQLDA</a:t>
            </a:r>
          </a:p>
          <a:p>
            <a:pPr>
              <a:spcBef>
                <a:spcPts val="200"/>
              </a:spcBef>
              <a:defRPr sz="1200" b="1">
                <a:solidFill>
                  <a:srgbClr val="1E293B"/>
                </a:solidFill>
              </a:defRPr>
            </a:pPr>
            <a:r>
              <a:t>Nghiệm thu BQLDA</a:t>
            </a:r>
          </a:p>
          <a:p>
            <a:pPr>
              <a:spcBef>
                <a:spcPts val="200"/>
              </a:spcBef>
              <a:defRPr sz="1000">
                <a:solidFill>
                  <a:srgbClr val="64748B"/>
                </a:solidFill>
              </a:defRPr>
            </a:pPr>
            <a:r>
              <a:t>Nghiệm thu khối lượng BQLDA</a:t>
            </a:r>
          </a:p>
        </p:txBody>
      </p:sp>
      <p:sp>
        <p:nvSpPr>
          <p:cNvPr id="7" name="Rounded Rectangle 6"/>
          <p:cNvSpPr/>
          <p:nvPr/>
        </p:nvSpPr>
        <p:spPr>
          <a:xfrm>
            <a:off x="8046719" y="2834640"/>
            <a:ext cx="3566160" cy="164592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bIns="137160"/>
          <a:lstStyle/>
          <a:p>
            <a:pPr algn="ctr">
              <a:defRPr sz="1300" b="1">
                <a:solidFill>
                  <a:srgbClr val="EE0033"/>
                </a:solidFill>
              </a:defRPr>
            </a:pPr>
            <a:r>
              <a:t>AS: BGTS BQLDA</a:t>
            </a:r>
          </a:p>
          <a:p>
            <a:pPr>
              <a:spcBef>
                <a:spcPts val="200"/>
              </a:spcBef>
              <a:defRPr sz="1200" b="1">
                <a:solidFill>
                  <a:srgbClr val="1E293B"/>
                </a:solidFill>
              </a:defRPr>
            </a:pPr>
            <a:r>
              <a:t>Bàn giao tài sản</a:t>
            </a:r>
          </a:p>
          <a:p>
            <a:pPr>
              <a:spcBef>
                <a:spcPts val="200"/>
              </a:spcBef>
              <a:defRPr sz="1000">
                <a:solidFill>
                  <a:srgbClr val="64748B"/>
                </a:solidFill>
              </a:defRPr>
            </a:pPr>
            <a:r>
              <a:t>Bàn giao tài sản vào BQLDA</a:t>
            </a:r>
          </a:p>
        </p:txBody>
      </p:sp>
      <p:sp>
        <p:nvSpPr>
          <p:cNvPr id="8" name="Rounded Rectangle 7"/>
          <p:cNvSpPr/>
          <p:nvPr/>
        </p:nvSpPr>
        <p:spPr>
          <a:xfrm>
            <a:off x="548640" y="4663440"/>
            <a:ext cx="3566160" cy="164592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bIns="137160"/>
          <a:lstStyle/>
          <a:p>
            <a:pPr algn="ctr">
              <a:defRPr sz="1300" b="1">
                <a:solidFill>
                  <a:srgbClr val="EE0033"/>
                </a:solidFill>
              </a:defRPr>
            </a:pPr>
            <a:r>
              <a:t>AT: NT SAP</a:t>
            </a:r>
          </a:p>
          <a:p>
            <a:pPr>
              <a:spcBef>
                <a:spcPts val="200"/>
              </a:spcBef>
              <a:defRPr sz="1200" b="1">
                <a:solidFill>
                  <a:srgbClr val="1E293B"/>
                </a:solidFill>
              </a:defRPr>
            </a:pPr>
            <a:r>
              <a:t>Nghiệm thu SAP</a:t>
            </a:r>
          </a:p>
          <a:p>
            <a:pPr>
              <a:spcBef>
                <a:spcPts val="200"/>
              </a:spcBef>
              <a:defRPr sz="1000">
                <a:solidFill>
                  <a:srgbClr val="64748B"/>
                </a:solidFill>
              </a:defRPr>
            </a:pPr>
            <a:r>
              <a:t>Nghiệm thu hệ thống SAP</a:t>
            </a:r>
          </a:p>
        </p:txBody>
      </p:sp>
      <p:sp>
        <p:nvSpPr>
          <p:cNvPr id="9" name="Rounded Rectangle 8"/>
          <p:cNvSpPr/>
          <p:nvPr/>
        </p:nvSpPr>
        <p:spPr>
          <a:xfrm>
            <a:off x="4297679" y="4663440"/>
            <a:ext cx="3566160" cy="164592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bIns="137160"/>
          <a:lstStyle/>
          <a:p>
            <a:pPr algn="ctr">
              <a:defRPr sz="1300" b="1">
                <a:solidFill>
                  <a:srgbClr val="EE0033"/>
                </a:solidFill>
              </a:defRPr>
            </a:pPr>
            <a:r>
              <a:t>AU: BGTS SAP</a:t>
            </a:r>
          </a:p>
          <a:p>
            <a:pPr>
              <a:spcBef>
                <a:spcPts val="200"/>
              </a:spcBef>
              <a:defRPr sz="1200" b="1">
                <a:solidFill>
                  <a:srgbClr val="1E293B"/>
                </a:solidFill>
              </a:defRPr>
            </a:pPr>
            <a:r>
              <a:t>BGTS trên SAP</a:t>
            </a:r>
          </a:p>
          <a:p>
            <a:pPr>
              <a:spcBef>
                <a:spcPts val="200"/>
              </a:spcBef>
              <a:defRPr sz="1000">
                <a:solidFill>
                  <a:srgbClr val="64748B"/>
                </a:solidFill>
              </a:defRPr>
            </a:pPr>
            <a:r>
              <a:t>Bàn giao tài sản trên hệ thống SAP</a:t>
            </a:r>
          </a:p>
        </p:txBody>
      </p:sp>
      <p:sp>
        <p:nvSpPr>
          <p:cNvPr id="10" name="Rounded Rectangle 9"/>
          <p:cNvSpPr/>
          <p:nvPr/>
        </p:nvSpPr>
        <p:spPr>
          <a:xfrm>
            <a:off x="8046719" y="4663440"/>
            <a:ext cx="3566160" cy="164592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bIns="137160"/>
          <a:lstStyle/>
          <a:p>
            <a:pPr algn="ctr">
              <a:defRPr sz="1300" b="1">
                <a:solidFill>
                  <a:srgbClr val="EE0033"/>
                </a:solidFill>
              </a:defRPr>
            </a:pPr>
            <a:r>
              <a:t>AW: VHKT</a:t>
            </a:r>
          </a:p>
          <a:p>
            <a:pPr>
              <a:spcBef>
                <a:spcPts val="200"/>
              </a:spcBef>
              <a:defRPr sz="1200" b="1">
                <a:solidFill>
                  <a:srgbClr val="1E293B"/>
                </a:solidFill>
              </a:defRPr>
            </a:pPr>
            <a:r>
              <a:t>Vận hành kỹ thuật</a:t>
            </a:r>
          </a:p>
          <a:p>
            <a:pPr>
              <a:spcBef>
                <a:spcPts val="200"/>
              </a:spcBef>
              <a:defRPr sz="1000">
                <a:solidFill>
                  <a:srgbClr val="64748B"/>
                </a:solidFill>
              </a:defRPr>
            </a:pPr>
            <a:r>
              <a:t>Bàn giao đưa vào Vận hành KT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822960"/>
          </a:xfrm>
          <a:prstGeom prst="rect">
            <a:avLst/>
          </a:prstGeom>
          <a:noFill/>
        </p:spPr>
        <p:txBody>
          <a:bodyPr wrap="square" lIns="0" tIns="0" rIns="0" bIns="0">
            <a:spAutoFit/>
          </a:bodyPr>
          <a:lstStyle/>
          <a:p>
            <a:pPr>
              <a:defRPr sz="1000" b="1">
                <a:solidFill>
                  <a:srgbClr val="EE0033"/>
                </a:solidFill>
              </a:defRPr>
            </a:pPr>
            <a:r>
              <a:t>KẾ HOẠCH HÀNH ĐỘNG</a:t>
            </a:r>
          </a:p>
          <a:p>
            <a:pPr>
              <a:defRPr sz="2000" b="1">
                <a:solidFill>
                  <a:srgbClr val="1E293B"/>
                </a:solidFill>
              </a:defRPr>
            </a:pPr>
            <a:r>
              <a:t>ĐỀ XUẤT ĐÁNH TRỌNG TÂM &amp; KẾ HOẠCH HÀNH ĐỘNG CỤ THỂ</a:t>
            </a:r>
          </a:p>
        </p:txBody>
      </p:sp>
      <p:sp>
        <p:nvSpPr>
          <p:cNvPr id="3" name="Rectangle 2"/>
          <p:cNvSpPr/>
          <p:nvPr/>
        </p:nvSpPr>
        <p:spPr>
          <a:xfrm>
            <a:off x="548640" y="1234440"/>
            <a:ext cx="11094415" cy="36576"/>
          </a:xfrm>
          <a:prstGeom prst="rect">
            <a:avLst/>
          </a:prstGeom>
          <a:solidFill>
            <a:srgbClr val="EE0033"/>
          </a:solidFill>
          <a:ln>
            <a:solidFill>
              <a:srgbClr val="EE00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463040"/>
            <a:ext cx="11094415" cy="1463040"/>
          </a:xfrm>
          <a:prstGeom prst="roundRect">
            <a:avLst/>
          </a:prstGeom>
          <a:solidFill>
            <a:srgbClr val="FFFFFF"/>
          </a:solidFill>
          <a:ln w="25400">
            <a:solidFill>
              <a:srgbClr val="EE0033"/>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bIns="182880"/>
          <a:lstStyle/>
          <a:p>
            <a:pPr algn="ctr">
              <a:defRPr sz="1300" b="1">
                <a:solidFill>
                  <a:srgbClr val="EE0033"/>
                </a:solidFill>
              </a:defRPr>
            </a:pPr>
            <a:r>
              <a:t>1. ĐÔN ĐỐC LÀM VIỆC RIÊNG VỚI VCC &amp; ACT (CHIẾM 74.1% VTA)</a:t>
            </a:r>
          </a:p>
          <a:p>
            <a:pPr>
              <a:spcBef>
                <a:spcPts val="600"/>
              </a:spcBef>
              <a:defRPr sz="1100">
                <a:solidFill>
                  <a:srgbClr val="1E293B"/>
                </a:solidFill>
              </a:defRPr>
            </a:pPr>
            <a:r>
              <a:t>• Thành lập Tổ công tác chuyên trách làm việc với Ban Lãnh đạo TCT CP Công trình Viettel (234 Tỷ) và Viễn thông ACT (169.4 Tỷ).</a:t>
            </a:r>
            <a:br/>
            <a:r>
              <a:t>• Giao chỉ tiêu cứng: Giảm tối thiểu 40 - 50% tồn công nợ VTA (tương đương 200 Tỷ VNĐ) trong Quý 4/2026.</a:t>
            </a:r>
          </a:p>
        </p:txBody>
      </p:sp>
      <p:sp>
        <p:nvSpPr>
          <p:cNvPr id="5" name="Rounded Rectangle 4"/>
          <p:cNvSpPr/>
          <p:nvPr/>
        </p:nvSpPr>
        <p:spPr>
          <a:xfrm>
            <a:off x="548640" y="3108960"/>
            <a:ext cx="11094415" cy="1463040"/>
          </a:xfrm>
          <a:prstGeom prst="roundRect">
            <a:avLst/>
          </a:prstGeom>
          <a:solidFill>
            <a:srgbClr val="FFFFFF"/>
          </a:solidFill>
          <a:ln w="254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bIns="182880"/>
          <a:lstStyle/>
          <a:p>
            <a:pPr algn="ctr">
              <a:defRPr sz="1300" b="1">
                <a:solidFill>
                  <a:srgbClr val="D97706"/>
                </a:solidFill>
              </a:defRPr>
            </a:pPr>
            <a:r>
              <a:t>2. TỔ CÔNG TÁC XỬ LÝ DỨT ĐIỂM 78 HỢP ĐỒNG CHI PHÍ KÝ TRƯỚC 2025</a:t>
            </a:r>
          </a:p>
          <a:p>
            <a:pPr>
              <a:spcBef>
                <a:spcPts val="600"/>
              </a:spcBef>
              <a:defRPr sz="1100">
                <a:solidFill>
                  <a:srgbClr val="1E293B"/>
                </a:solidFill>
              </a:defRPr>
            </a:pPr>
            <a:r>
              <a:t>• Rà soát từng HĐ chi phí đọng lâu năm (đặc biệt 32 HĐ của VCC và 11 HĐ của Mai Tú Tài).</a:t>
            </a:r>
            <a:br/>
            <a:r>
              <a:t>• Đặt hạn chót 30/10/2026: Hoàn thành 100% hồ sơ nghiệm thu thu hồi hoặc xử lý dứt điểm hiệu lực hợp đồng.</a:t>
            </a:r>
          </a:p>
        </p:txBody>
      </p:sp>
      <p:sp>
        <p:nvSpPr>
          <p:cNvPr id="6" name="Rounded Rectangle 5"/>
          <p:cNvSpPr/>
          <p:nvPr/>
        </p:nvSpPr>
        <p:spPr>
          <a:xfrm>
            <a:off x="548640" y="4754880"/>
            <a:ext cx="11094415" cy="1463040"/>
          </a:xfrm>
          <a:prstGeom prst="roundRect">
            <a:avLst/>
          </a:prstGeom>
          <a:solidFill>
            <a:srgbClr val="FFFFFF"/>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bIns="182880"/>
          <a:lstStyle/>
          <a:p>
            <a:pPr algn="ctr">
              <a:defRPr sz="1300" b="1">
                <a:solidFill>
                  <a:srgbClr val="10B981"/>
                </a:solidFill>
              </a:defRPr>
            </a:pPr>
            <a:r>
              <a:t>3. KIỂM SOÁT KPI THỜI GIAN THỰC QUA DASHBOARD GOOGLE SHEET LIVE</a:t>
            </a:r>
          </a:p>
          <a:p>
            <a:pPr>
              <a:spcBef>
                <a:spcPts val="600"/>
              </a:spcBef>
              <a:defRPr sz="1100">
                <a:solidFill>
                  <a:srgbClr val="1E293B"/>
                </a:solidFill>
              </a:defRPr>
            </a:pPr>
            <a:r>
              <a:t>• Sử dụng trực tiếp Dashboard Online 24/7 (https://cuongph2.github.io/viettel-dashboard/) để giao ban kiểm soát KPI hàng tuần.</a:t>
            </a:r>
            <a:br/>
            <a:r>
              <a:t>• Bấm nút 'Cập Nhật Từ Google Sheet' để cập nhật tiến độ công nợ VTA của từng nhà thầu theo thời gian thực.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