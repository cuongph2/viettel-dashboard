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0033"/>
                </a:solidFill>
              </a:defRPr>
            </a:pPr>
            <a:r>
              <a:t>VIETTEL TELECOM - BÁO CÁO QUẢN TRỊ RỦI RỔ &amp; KPI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TỔNG HỢP HỢP ĐỒNG &amp; CÔNG TRÌNH VIETTEL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Phân tích trọng tâm Công nợ Vật tư A (548.3 Tỷ VNĐ) &amp; Bảng Khoanh Vùng KPI Theo Đối Tác Trọng Điểm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0033"/>
                </a:solidFill>
              </a:defRPr>
            </a:pPr>
            <a:r>
              <a:t>SLIDE 2: TOP NHÀ THẦU TỒN CÔNG NỢ VẬT TƯ A LỚN NHẤT (548.3 TỶ VNĐ)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Nhà Thầu Đối Tác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Số HĐ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Số CT Tồn VTA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Tiền Tồn VTA (Tỷ)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Tỷ Trọng (%)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Tỷ Lệ Tích Lũy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Tổng công ty CP Công trình Viettel (VCC)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3,806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E0033"/>
                          </a:solidFill>
                        </a:defRPr>
                      </a:pPr>
                      <a:r>
                        <a:t>256.18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46.7%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Công ty CP Viễn thông 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3,499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E0033"/>
                          </a:solidFill>
                        </a:defRPr>
                      </a:pPr>
                      <a:r>
                        <a:t>176.92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79.0%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Công ty CP PT DV TLI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137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E0033"/>
                          </a:solidFill>
                        </a:defRPr>
                      </a:pPr>
                      <a:r>
                        <a:t>43.77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87.0%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Công ty TNHH Samaki Đông Dương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72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E0033"/>
                          </a:solidFill>
                        </a:defRPr>
                      </a:pPr>
                      <a:r>
                        <a:t>28.21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92.1%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CÔNG TY TNHH TMDV KT VT AN PHÁT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1,868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E0033"/>
                          </a:solidFill>
                        </a:defRPr>
                      </a:pPr>
                      <a:r>
                        <a:t>18.35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0033"/>
                </a:solidFill>
              </a:defRPr>
            </a:pPr>
            <a:r>
              <a:t>SLIDE 3: CẢNH BÁO HỢP ĐỒNG CHI PHÍ KÝ TRƯỚC 2025 (&lt; 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Nhà Thầu Đối Tác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Số HĐ Chi Phí &lt; 2025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Tổng Giá Trị HĐ (Tỷ)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Tổng Giá Trị Tồn (Tỷ)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Đánh Giá Rủi Rổ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Công ty CP Viễn thông 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 HĐ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10.45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6.82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Rủi rổ rất cao (Tồn đọng kéo dài)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Công ty CP Công Nghệ &amp; Truyền Thông Sài Gòn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 HĐ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4.12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2.95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Rủi rổ cao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Tổng công ty CP Công trình Viettel (VCC)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 HĐ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3.20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2.10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Rủi rổ trung bình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Công ty Cổ Phần Xây Dựng Vũng Tàu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 HĐ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1.85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1.12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11D48"/>
                          </a:solidFill>
                        </a:defRPr>
                      </a:pPr>
                      <a:r>
                        <a:t>Rủi rổ trung bình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0033"/>
                </a:solidFill>
              </a:defRPr>
            </a:pPr>
            <a:r>
              <a:t>SLIDE 4: KHOANH VÙNG ĐIỀU HÀNH KPI THEO ĐỐI TÁC TRỌNG ĐIỂM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Chi tiết số lượng CT, Tồn VTA và tỷ lệ Đạt KPI (Q = 'KHÔNG') theo Top 8 Nhà Thầu Lớn Nhất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072"/>
                <a:gridCol w="1192072"/>
                <a:gridCol w="1192072"/>
                <a:gridCol w="1192072"/>
                <a:gridCol w="1192072"/>
                <a:gridCol w="1192072"/>
                <a:gridCol w="1192072"/>
                <a:gridCol w="1192072"/>
                <a:gridCol w="1192079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STT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Nhà Thầu Đối Tác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HĐ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Tổng CT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CT Tồn VTA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Tiền VTA (Tỷ)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Giao KPI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Đạt KPI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% Đạt KPI</a:t>
                      </a:r>
                    </a:p>
                  </a:txBody>
                  <a:tcPr>
                    <a:solidFill>
                      <a:srgbClr val="EE00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Tổng công ty CP Công trình Viettel (VCC)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4,191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3,806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256.18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5,541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7.0%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Công ty CP Viễn thông 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3,748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3,499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176.92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2,801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8.4%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Công ty CP Phát Triển Dịch Vụ TLI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43.77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Công ty TNHH Samaki Đông Dương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28.21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3.7%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Công Ty TNHH TMDV KT VT An Phát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1,904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1,868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18.35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1,875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2.2%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Cty TNHH TM &amp; VT Hồng Quang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17.17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Phạm Hùng Cường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11.95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Công ty Cổ Phần Xây Dựng Vũng Tàu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E0033"/>
                          </a:solidFill>
                        </a:defRPr>
                      </a:pPr>
                      <a:r>
                        <a:t>9.35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11D48"/>
                          </a:solidFill>
                        </a:defRPr>
                      </a:pPr>
                      <a:r>
                        <a:t>7.3%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/>
                      </a:pPr>
                      <a:r>
                        <a:t>TỔNG TOP 8 ĐỐI TÁC TRỌNG ĐIỂM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338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10,762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E0033"/>
                          </a:solidFill>
                        </a:defRPr>
                      </a:pPr>
                      <a:r>
                        <a:t>9,895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E0033"/>
                          </a:solidFill>
                        </a:defRPr>
                      </a:pPr>
                      <a:r>
                        <a:t>561.90 Tỷ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11,552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738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E0033"/>
                          </a:solidFill>
                        </a:defRPr>
                      </a:pPr>
                      <a:r>
                        <a:t>6.4%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0033"/>
                </a:solidFill>
              </a:defRPr>
            </a:pPr>
            <a:r>
              <a:t>SLIDE 5: KẾ HOẠCH HÀNH ĐỘNG THU HỒI CÔNG NỢ VTA &amp;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E293B"/>
                </a:solidFill>
              </a:defRPr>
            </a:pPr>
            <a:r>
              <a:t>1. Tập trung xử lý Top 2 Đối tác VCC &amp; ACT (Chiếm 79% nợ VTA):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→ Lập tổ công tác liên ngành đôn đốc thu hồi vật tư A tồn đọng và hoàn thiện chứng từ nghiệm thu.</a:t>
            </a:r>
          </a:p>
          <a:p>
            <a:pPr>
              <a:defRPr b="1" sz="1400">
                <a:solidFill>
                  <a:srgbClr val="1E293B"/>
                </a:solidFill>
              </a:defRPr>
            </a:pPr>
            <a:r>
              <a:t>2. Xử lý triệt để Hợp đồng Chi phí Ký trước 2025 (&lt; 2025):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→ Tạm dừng thanh toán các đợt tiếp theo cho đến khi hoàn thành quyết toán công nợ cũ.</a:t>
            </a:r>
          </a:p>
          <a:p>
            <a:pPr>
              <a:defRPr b="1" sz="1400">
                <a:solidFill>
                  <a:srgbClr val="1E293B"/>
                </a:solidFill>
              </a:defRPr>
            </a:pPr>
            <a:r>
              <a:t>3. Theo dõi sát chỉ tiêu KPI Q = 'KHÔNG':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→ Định kỳ hàng tuần cập nhật tiến độ giải tỏa công nợ VTA lên hệ thống Dashboard Online.</a:t>
            </a:r>
          </a:p>
          <a:p>
            <a:pPr>
              <a:defRPr b="1" sz="1400">
                <a:solidFill>
                  <a:srgbClr val="1E293B"/>
                </a:solidFill>
              </a:defRPr>
            </a:pPr>
            <a:r>
              <a:t>4. Áp dụng tài khoản cấp vốn và điều phối hạ tầng: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→ Gắn trách nhiệm trực tiếp cho từng Giám đốc Ban/Trung tâm Quản lý Hợp đồng.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